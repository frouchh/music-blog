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62" r:id="rId7"/>
    <p:sldId id="289" r:id="rId8"/>
    <p:sldId id="266" r:id="rId9"/>
    <p:sldId id="295" r:id="rId10"/>
    <p:sldId id="297" r:id="rId11"/>
    <p:sldId id="29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04" autoAdjust="0"/>
  </p:normalViewPr>
  <p:slideViewPr>
    <p:cSldViewPr snapToGrid="0">
      <p:cViewPr varScale="1">
        <p:scale>
          <a:sx n="69" d="100"/>
          <a:sy n="69" d="100"/>
        </p:scale>
        <p:origin x="960" y="7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raw.io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уважаемые члены комиссии. Вашему вниманию представляется курсовая работа на тему «Блог музыки». Работу выполнил студент группы ИС-23-1 Щемелев Глеб Дмитриевич под руководством Марии Александровны Кудрявцевой.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707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данной курсовой работы является разработка музыкального блога - веб-приложения, предназначенного для публикации и оценки музыкальных треков пользователями.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достижения цели были поставлены следующие функциональные задачи: регистрация и авторизация пользователей, прослушивание музыкальных треков, публикация треков с загрузкой аудиофайлов, система оценки треков по десятибалльной шкале, модерация контента администратором, поиск и фильтрация треков по жанру и названию, а также личный кабинет пользователя.</a:t>
            </a:r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579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Предметной областью является автоматизация блога музыки. Музыкальный блог - это веб-ресурс, который позволяет пользователям размещать собственные музыкальные произведения, прослушивать работы других авторов и оценивать их.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системе выделены три основные роли. Гость - неавторизованный пользователь, который может просматривать и прослушивать треки, а также зарегистрироваться. Зарегистрированный пользователь получает возможность загружать треки, выставлять оценки и управлять своим контентом.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Администраторвыполняет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функции модерации треков и управления пользователями.</a:t>
            </a:r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090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реализации проекта был выбран следующий стек технологий. В качестве языка программирования использовался Python, так как он прост в освоении и широко применяется в веб-разработке. Веб-фреймворк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Django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был выбран за счёт встроенных инструментов: ORM для работы с базой данных, система аутентификации и готовая административная панель. Для хранения данных использовалась СУБД MySQL. Разработка велась в среде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PyCharm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Для моделирования архитектуры применялся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Draw.io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а для создания прототипов интерфейса -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Figma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58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диаграмме вариантов использования представлены основные действия пользователей. Гость может просматривать треки, прослушивать их и регистрироваться. Зарегистрированный пользователь, помимо этого, может авторизоваться, загружать собственные треки, оценивать треки других пользователей и управлять своим профилем. Администратор имеет доступ к модерации треков и управлению пользователями.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Диаграмма деятельности визуализирует алгоритм работы системы. Процесс начинается с открытия сайта и просмотра треков. На этапе проверки авторизации происходит разделение: гость может только прослушивать музыку, а авторизованный пользователь может ещё и оценивать треки. При публикации нового трека он сначала отправляется на модерацию, после чего администратор принимает решение о публикации или отклонении.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651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Контекстная диаграмма представляет систему как единый функциональный блок. На входе в систему поступают музыкальные файлы, метаданные и оценки пользователей. Управлением являются правила модерации и технические требования. Механизмами выступают администратор и зарегистрированные пользователи. Результатом работы являются опубликованные треки, сформированные рейтинги и база данных исполнителей.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диаграмме декомпозиции раскрывается внутренняя структура системы. Первый блок — регистрация и авторизация пользователей. Второй блок — загрузка и модерация музыкального контента, где администратор проверяет треки. Третий блок — прослушивание и оценка треков, где пользователи взаимодействуют с опубликованным контентом. Все блоки работают под общим управлением и используют одни и те же механизмы.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31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Диаграмма классов демонстрирует структуру данных системы. Класс User описывает пользователя, содержит логин, пароль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email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Класс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определяет роли пользователей: администратор, пользователь, гость. Класс Track содержит информацию о треке: название, автор, описание, дата публикации, статус модерации и ссылку на аудиофайл. Класс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классифицирует треки по жанрам. Класс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хранит оценки, выставленные пользователями трекам.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Диаграмма потоков данных показывает движение информации в системе. Выделены три хранилища: пользователи, треки и оценки. При регистрации данные пользователя сохраняются в хранилище пользователей. При загрузке трека он попадает в хранилище треков, после модерации статус обновляется. При выставлении оценки данные сохраняются в хранилище оценок. Система обрабатывает запросы на поиск и фильтрацию, извлекая данные из соответствующих хранилищ.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39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Инфологическая диаграмма отображает семантику предметной области на концептуальном уровне. Выделены сущности: пользователи и роли, треки и жанры, а также оценки. Сущность «Роли» позволяет гибко управлять правами доступа. Каждый трек относится к определённому жанру, что обеспечивает удобную навигацию. Оценки связывают пользователей и треки, формируя рейтинг музыкальных произведений.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ER-модель базы данных состоит из пяти таблиц. Таблица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содержит роли пользователей. Таблица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хранит данные учетных записей и ссылается на роль. Таблица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Genres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содержит список жанров. Таблица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Tracks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основная таблица системы, содержит информацию о треках и ссылки на пользователя и жанр. Таблица Ratings хранит оценки, выставленные пользователями трекам. Связи между таблицами обеспечивают целостность данных.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641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ходе выполнения курсовой работы был разработан музыкальный блог, реализующий следующие функции: регистрация и авторизация пользователей с хэшированием паролей, публикация треков с загрузкой аудиофайлов, система модерации контента, система оценок с автоматическим пересчётом рейтинга, поиск и фильтрация треков, а также личный кабинет пользователя.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Программный продукт соответствует требованиям технического задания. Интерфейс интуитивно понятен, адаптирован для современных браузеров и обеспечивает удобное взаимодействие пользователей с системой.</a:t>
            </a:r>
          </a:p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62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Два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5853" y="4714770"/>
            <a:ext cx="3304674" cy="1477328"/>
          </a:xfrm>
        </p:spPr>
        <p:txBody>
          <a:bodyPr>
            <a:normAutofit/>
          </a:bodyPr>
          <a:lstStyle/>
          <a:p>
            <a:r>
              <a:rPr lang="ru-RU" dirty="0"/>
              <a:t>Выполнил: Щемелев Г.Д.</a:t>
            </a:r>
          </a:p>
          <a:p>
            <a:r>
              <a:rPr lang="ru-RU" dirty="0"/>
              <a:t>Группа: ИС-23-1</a:t>
            </a:r>
          </a:p>
          <a:p>
            <a:r>
              <a:rPr lang="ru-RU" dirty="0"/>
              <a:t>Руководитель: Кудрявцева М.А.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B758FA-6577-2CC3-5443-32DF01C949B9}"/>
              </a:ext>
            </a:extLst>
          </p:cNvPr>
          <p:cNvSpPr txBox="1"/>
          <p:nvPr/>
        </p:nvSpPr>
        <p:spPr>
          <a:xfrm>
            <a:off x="3224462" y="10161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21669-131A-9099-CAC2-B3E6E6F3122A}"/>
              </a:ext>
            </a:extLst>
          </p:cNvPr>
          <p:cNvSpPr txBox="1"/>
          <p:nvPr/>
        </p:nvSpPr>
        <p:spPr>
          <a:xfrm>
            <a:off x="4042610" y="1833797"/>
            <a:ext cx="4459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dirty="0">
                <a:latin typeface="Aptos Black" panose="020F0502020204030204" pitchFamily="34" charset="0"/>
              </a:rPr>
              <a:t>Курсовая работа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66B2A-A0F7-2C47-E23D-DA722191940D}"/>
              </a:ext>
            </a:extLst>
          </p:cNvPr>
          <p:cNvSpPr txBox="1"/>
          <p:nvPr/>
        </p:nvSpPr>
        <p:spPr>
          <a:xfrm>
            <a:off x="4539114" y="2343504"/>
            <a:ext cx="31610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/>
              <a:t>Блог музыки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710E2-0452-ED02-820E-6133D5D99E32}"/>
              </a:ext>
            </a:extLst>
          </p:cNvPr>
          <p:cNvSpPr txBox="1"/>
          <p:nvPr/>
        </p:nvSpPr>
        <p:spPr>
          <a:xfrm>
            <a:off x="5318000" y="6387052"/>
            <a:ext cx="1603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Иркутск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09" y="751680"/>
            <a:ext cx="7313196" cy="1325563"/>
          </a:xfrm>
        </p:spPr>
        <p:txBody>
          <a:bodyPr>
            <a:normAutofit/>
          </a:bodyPr>
          <a:lstStyle/>
          <a:p>
            <a:r>
              <a:rPr lang="ru-RU" b="1" dirty="0">
                <a:latin typeface="Aptos Black" panose="020F0502020204030204" pitchFamily="34" charset="0"/>
              </a:rPr>
              <a:t>Цель, функциональные задачи программного продукта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82" y="2261395"/>
            <a:ext cx="5806917" cy="4094954"/>
          </a:xfrm>
        </p:spPr>
        <p:txBody>
          <a:bodyPr>
            <a:noAutofit/>
          </a:bodyPr>
          <a:lstStyle/>
          <a:p>
            <a:r>
              <a:rPr lang="ru-RU" sz="1600" b="1" dirty="0"/>
              <a:t>Цель:</a:t>
            </a:r>
            <a:r>
              <a:rPr lang="ru-RU" sz="1600" dirty="0"/>
              <a:t> разработать музыкальный блог для публикации и оценки музыкальных треков.</a:t>
            </a:r>
          </a:p>
          <a:p>
            <a:r>
              <a:rPr lang="ru-RU" sz="1600" b="1" dirty="0"/>
              <a:t>Функциональные задачи:</a:t>
            </a: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Регистрация и авторизация пользователей;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Прослушивание музыкальных треков;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Публикация треков с загрузкой аудиофайлов;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Система оценки треков (1–10 баллов);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Модерация контента администратором;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Поиск и фильтрация треков по жанру и названию;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Личный кабинет пользователя.</a:t>
            </a:r>
          </a:p>
          <a:p>
            <a:br>
              <a:rPr lang="ru-RU" sz="1600" dirty="0"/>
            </a:br>
            <a:endParaRPr lang="en-US" sz="1600" dirty="0"/>
          </a:p>
        </p:txBody>
      </p:sp>
      <p:sp>
        <p:nvSpPr>
          <p:cNvPr id="7" name="Slide Number Placeholder 81">
            <a:extLst>
              <a:ext uri="{FF2B5EF4-FFF2-40B4-BE49-F238E27FC236}">
                <a16:creationId xmlns:a16="http://schemas.microsoft.com/office/drawing/2014/main" id="{6309EF1C-6B91-4DE3-BAA0-576D7D73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7" y="645715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ru-RU" dirty="0">
                <a:latin typeface="Aptos Black" panose="020B0004020202020204" pitchFamily="34" charset="0"/>
              </a:rPr>
              <a:t>Описание предметной области</a:t>
            </a:r>
            <a:br>
              <a:rPr lang="ru-RU" dirty="0"/>
            </a:br>
            <a:endParaRPr lang="en-US" dirty="0"/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7" y="6457155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95864F-27FC-2478-A6D2-C38B77A9334B}"/>
              </a:ext>
            </a:extLst>
          </p:cNvPr>
          <p:cNvSpPr txBox="1"/>
          <p:nvPr/>
        </p:nvSpPr>
        <p:spPr>
          <a:xfrm>
            <a:off x="838199" y="2136775"/>
            <a:ext cx="8260079" cy="3697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Музыкальный</a:t>
            </a:r>
            <a:r>
              <a: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блог</a:t>
            </a:r>
            <a:r>
              <a: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веб-ресурс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позволяющий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пользователям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размещать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собственные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музыкальные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произведения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прослушивать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работы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других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авторов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и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оценивать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их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Роли</a:t>
            </a:r>
            <a:r>
              <a:rPr lang="en-US" sz="1600" b="1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b="1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пользователей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u="sng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Гость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просмотр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и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прослушивание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треков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регистрация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u="sng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Пользователь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загрузка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треков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выставление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оценок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управление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своим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контентом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u="sng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Администратор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ru-RU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модерация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треков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управление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600" kern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пользователями</a:t>
            </a:r>
            <a:r>
              <a:rPr 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pic>
        <p:nvPicPr>
          <p:cNvPr id="1026" name="Picture 2" descr="Скачать 1920x1080 пластинка, ретро, чб, музыка обои, картинки full hd,  hdtv, fhd, 1080p">
            <a:extLst>
              <a:ext uri="{FF2B5EF4-FFF2-40B4-BE49-F238E27FC236}">
                <a16:creationId xmlns:a16="http://schemas.microsoft.com/office/drawing/2014/main" id="{2F4961B5-08D2-FA20-8761-002272DA6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5" r="24878" b="-2"/>
          <a:stretch>
            <a:fillRect/>
          </a:stretch>
        </p:blipFill>
        <p:spPr bwMode="auto">
          <a:xfrm>
            <a:off x="9098278" y="1587500"/>
            <a:ext cx="2255519" cy="490537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907" y="4095352"/>
            <a:ext cx="4758694" cy="992206"/>
          </a:xfrm>
        </p:spPr>
        <p:txBody>
          <a:bodyPr>
            <a:normAutofit/>
          </a:bodyPr>
          <a:lstStyle/>
          <a:p>
            <a:r>
              <a:rPr lang="ru-RU" b="1" dirty="0">
                <a:latin typeface="Aptos Black" panose="020B00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30" name="Таблица 29">
            <a:extLst>
              <a:ext uri="{FF2B5EF4-FFF2-40B4-BE49-F238E27FC236}">
                <a16:creationId xmlns:a16="http://schemas.microsoft.com/office/drawing/2014/main" id="{2922780F-6AF5-572E-8BDF-A8A5C6280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867495"/>
              </p:ext>
            </p:extLst>
          </p:nvPr>
        </p:nvGraphicFramePr>
        <p:xfrm>
          <a:off x="5054601" y="1515534"/>
          <a:ext cx="6692900" cy="38269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46450">
                  <a:extLst>
                    <a:ext uri="{9D8B030D-6E8A-4147-A177-3AD203B41FA5}">
                      <a16:colId xmlns:a16="http://schemas.microsoft.com/office/drawing/2014/main" val="1195544824"/>
                    </a:ext>
                  </a:extLst>
                </a:gridCol>
                <a:gridCol w="3346450">
                  <a:extLst>
                    <a:ext uri="{9D8B030D-6E8A-4147-A177-3AD203B41FA5}">
                      <a16:colId xmlns:a16="http://schemas.microsoft.com/office/drawing/2014/main" val="3636871457"/>
                    </a:ext>
                  </a:extLst>
                </a:gridCol>
              </a:tblGrid>
              <a:tr h="634553">
                <a:tc>
                  <a:txBody>
                    <a:bodyPr/>
                    <a:lstStyle/>
                    <a:p>
                      <a:r>
                        <a:rPr lang="ru-RU" dirty="0"/>
                        <a:t>Категория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Инструмент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038073"/>
                  </a:ext>
                </a:extLst>
              </a:tr>
              <a:tr h="6345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Язык программирования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Python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229237131"/>
                  </a:ext>
                </a:extLst>
              </a:tr>
              <a:tr h="6345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Веб-фреймворк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Django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045216019"/>
                  </a:ext>
                </a:extLst>
              </a:tr>
              <a:tr h="6345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СУБД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MySQL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672469932"/>
                  </a:ext>
                </a:extLst>
              </a:tr>
              <a:tr h="6345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Среда разработки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PyCharm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02488127"/>
                  </a:ext>
                </a:extLst>
              </a:tr>
              <a:tr h="65416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Моделирование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Draw.io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053225882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448C6F5A-2A8B-5718-990E-E2BF98D0B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98677"/>
              </p:ext>
            </p:extLst>
          </p:nvPr>
        </p:nvGraphicFramePr>
        <p:xfrm>
          <a:off x="5054600" y="5342466"/>
          <a:ext cx="6692900" cy="639234"/>
        </p:xfrm>
        <a:graphic>
          <a:graphicData uri="http://schemas.openxmlformats.org/drawingml/2006/table">
            <a:tbl>
              <a:tblPr/>
              <a:tblGrid>
                <a:gridCol w="3346450">
                  <a:extLst>
                    <a:ext uri="{9D8B030D-6E8A-4147-A177-3AD203B41FA5}">
                      <a16:colId xmlns:a16="http://schemas.microsoft.com/office/drawing/2014/main" val="2943196887"/>
                    </a:ext>
                  </a:extLst>
                </a:gridCol>
                <a:gridCol w="3346450">
                  <a:extLst>
                    <a:ext uri="{9D8B030D-6E8A-4147-A177-3AD203B41FA5}">
                      <a16:colId xmlns:a16="http://schemas.microsoft.com/office/drawing/2014/main" val="827905529"/>
                    </a:ext>
                  </a:extLst>
                </a:gridCol>
              </a:tblGrid>
              <a:tr h="639234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Прототипирование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Figma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857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056" y="320677"/>
            <a:ext cx="8421688" cy="1325563"/>
          </a:xfrm>
        </p:spPr>
        <p:txBody>
          <a:bodyPr/>
          <a:lstStyle/>
          <a:p>
            <a:r>
              <a:rPr lang="ru-RU" b="1" dirty="0">
                <a:latin typeface="Aptos Black" panose="020B00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932F4A-0F61-B83E-4AD2-CA9F37659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98" y="1839028"/>
            <a:ext cx="3718591" cy="45055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6080DC3-2099-8A07-B5FE-96F9B2418D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318" y="1839029"/>
            <a:ext cx="4025900" cy="4517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DE36630-B9E5-150D-56D0-101002F4947E}"/>
              </a:ext>
            </a:extLst>
          </p:cNvPr>
          <p:cNvSpPr txBox="1"/>
          <p:nvPr/>
        </p:nvSpPr>
        <p:spPr>
          <a:xfrm>
            <a:off x="843269" y="1461574"/>
            <a:ext cx="4171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Диаграмма вариантов использования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03E5CF-37D2-4F81-B9D0-4710CC5B246B}"/>
              </a:ext>
            </a:extLst>
          </p:cNvPr>
          <p:cNvSpPr txBox="1"/>
          <p:nvPr/>
        </p:nvSpPr>
        <p:spPr>
          <a:xfrm>
            <a:off x="8383766" y="1461574"/>
            <a:ext cx="286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Диаграмма деятельности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A076B-3706-6AEC-9676-E89FC022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B1AE-A4E0-B323-E774-573290669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056" y="320677"/>
            <a:ext cx="8421688" cy="1325563"/>
          </a:xfrm>
        </p:spPr>
        <p:txBody>
          <a:bodyPr/>
          <a:lstStyle/>
          <a:p>
            <a:r>
              <a:rPr lang="ru-RU" b="1" dirty="0">
                <a:latin typeface="Aptos Black" panose="020B00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FB4C76A-1312-28CC-DA24-087F02F4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239BD6-2C3F-1149-1FC8-9ABB3879207A}"/>
              </a:ext>
            </a:extLst>
          </p:cNvPr>
          <p:cNvSpPr txBox="1"/>
          <p:nvPr/>
        </p:nvSpPr>
        <p:spPr>
          <a:xfrm>
            <a:off x="928943" y="1860185"/>
            <a:ext cx="3466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Контекстная диаграмма </a:t>
            </a:r>
            <a:r>
              <a:rPr lang="en-US" dirty="0"/>
              <a:t>IDEF-0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5685DF-CE12-8567-60BD-BE5EB2A11B8D}"/>
              </a:ext>
            </a:extLst>
          </p:cNvPr>
          <p:cNvSpPr txBox="1"/>
          <p:nvPr/>
        </p:nvSpPr>
        <p:spPr>
          <a:xfrm>
            <a:off x="7796789" y="1860185"/>
            <a:ext cx="3276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Диаграмма декомпозиций А1</a:t>
            </a:r>
            <a:endParaRPr lang="en-US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406B304-C40C-C0D9-E19B-BC1295934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617" y="2330801"/>
            <a:ext cx="4000500" cy="3171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6685FE8B-07B5-4C1D-EB0E-29EBBCC7D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0" y="2330801"/>
            <a:ext cx="5105400" cy="31718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423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12390-254B-15D6-67EB-9340A818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0327-BB92-0638-AEEE-BD48C1077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056" y="320677"/>
            <a:ext cx="8421688" cy="1325563"/>
          </a:xfrm>
        </p:spPr>
        <p:txBody>
          <a:bodyPr/>
          <a:lstStyle/>
          <a:p>
            <a:r>
              <a:rPr lang="ru-RU" b="1" dirty="0">
                <a:latin typeface="Aptos Black" panose="020B0004020202020204" pitchFamily="34" charset="0"/>
              </a:rPr>
              <a:t>Проектирование программного продукта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3746E1-2E9F-A700-B9DA-0C16310B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430793-6BDF-5072-90B1-C62A9CFFD125}"/>
              </a:ext>
            </a:extLst>
          </p:cNvPr>
          <p:cNvSpPr txBox="1"/>
          <p:nvPr/>
        </p:nvSpPr>
        <p:spPr>
          <a:xfrm>
            <a:off x="1906394" y="1860185"/>
            <a:ext cx="222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Диаграмма классов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39AC67-7FBC-440E-FAA3-534A61B95947}"/>
              </a:ext>
            </a:extLst>
          </p:cNvPr>
          <p:cNvSpPr txBox="1"/>
          <p:nvPr/>
        </p:nvSpPr>
        <p:spPr>
          <a:xfrm>
            <a:off x="7796789" y="1860185"/>
            <a:ext cx="312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Диаграмма потоков данных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8B3F39C-2D13-5C67-8377-1E361769E4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5"/>
          <a:stretch/>
        </p:blipFill>
        <p:spPr bwMode="auto">
          <a:xfrm>
            <a:off x="823912" y="2443462"/>
            <a:ext cx="4391025" cy="3514725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6BD0ED-33BA-B0D0-7BCA-9ED50672F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065" y="2437078"/>
            <a:ext cx="4624590" cy="3521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30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26016-E29B-63A0-82F3-30CCA186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DB25-7DA5-651D-C20F-4C081EB2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056" y="320677"/>
            <a:ext cx="8421688" cy="1325563"/>
          </a:xfrm>
        </p:spPr>
        <p:txBody>
          <a:bodyPr/>
          <a:lstStyle/>
          <a:p>
            <a:r>
              <a:rPr lang="ru-RU" b="1" dirty="0">
                <a:latin typeface="Aptos Black" panose="020B0004020202020204" pitchFamily="34" charset="0"/>
              </a:rPr>
              <a:t>Проектирование базы данных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585D6B-1B6F-DC6A-32AA-CB8FCFE9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4A3715-A988-9886-EACA-96007D209ED3}"/>
              </a:ext>
            </a:extLst>
          </p:cNvPr>
          <p:cNvSpPr txBox="1"/>
          <p:nvPr/>
        </p:nvSpPr>
        <p:spPr>
          <a:xfrm>
            <a:off x="8505551" y="1480613"/>
            <a:ext cx="133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ER-</a:t>
            </a:r>
            <a:r>
              <a:rPr lang="ru-RU" dirty="0"/>
              <a:t>Модель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97A598-A21A-557F-5FB2-6D18763E7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0" y="2021068"/>
            <a:ext cx="5721514" cy="39604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E58D54-62D6-79BD-3DBD-E823965286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" y="2422982"/>
            <a:ext cx="5617527" cy="3558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9ADDB-71F9-CDE0-3093-205D2F99CAA7}"/>
              </a:ext>
            </a:extLst>
          </p:cNvPr>
          <p:cNvSpPr txBox="1"/>
          <p:nvPr/>
        </p:nvSpPr>
        <p:spPr>
          <a:xfrm>
            <a:off x="1711996" y="1480613"/>
            <a:ext cx="3150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Инфологическая диаграмма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943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172" y="832728"/>
            <a:ext cx="1823656" cy="846301"/>
          </a:xfrm>
        </p:spPr>
        <p:txBody>
          <a:bodyPr/>
          <a:lstStyle/>
          <a:p>
            <a:r>
              <a:rPr lang="ru-RU" b="1" dirty="0">
                <a:latin typeface="Aptos Black" panose="020B0004020202020204" pitchFamily="34" charset="0"/>
              </a:rPr>
              <a:t>Вывод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2F697-D1D4-4B0A-B960-D1869BF86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809843-0413-6D15-3976-B57763E7AA26}"/>
              </a:ext>
            </a:extLst>
          </p:cNvPr>
          <p:cNvSpPr txBox="1"/>
          <p:nvPr/>
        </p:nvSpPr>
        <p:spPr>
          <a:xfrm>
            <a:off x="5257800" y="152257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 ходе выполнения курсовой работы был разработан музыкальный блог, реализующий следующие функции: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Регистрация и авторизация пользователей;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Публикация треков с загрузкой аудиофайлов;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Система модерации контента;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Система оценок с автоматическим пересчётом рейтинга;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Поиск и фильтрация треков;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Личный кабинет пользователя.</a:t>
            </a:r>
          </a:p>
          <a:p>
            <a:endParaRPr lang="ru-RU" dirty="0"/>
          </a:p>
          <a:p>
            <a:r>
              <a:rPr lang="ru-RU" dirty="0"/>
              <a:t>Программный продукт соответствует требованиям технического задания, интерфейс интуитивно понятен и адаптирован для современных браузеров.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{A7A5788A-8223-4A4B-B344-DCC4EE8AC0D7}TF1ed81438-95a7-4ae9-841d-43ea2c64f7fc8ae7ff09_win32-aa52a5bb69e3</Template>
  <TotalTime>53</TotalTime>
  <Words>1096</Words>
  <Application>Microsoft Office PowerPoint</Application>
  <PresentationFormat>Широкоэкранный</PresentationFormat>
  <Paragraphs>98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 Black</vt:lpstr>
      <vt:lpstr>Arial</vt:lpstr>
      <vt:lpstr>Calibri</vt:lpstr>
      <vt:lpstr>quote-cjk-patch</vt:lpstr>
      <vt:lpstr>Tenorite</vt:lpstr>
      <vt:lpstr>Monoline</vt:lpstr>
      <vt:lpstr>Презентация PowerPoint</vt:lpstr>
      <vt:lpstr>Цель, функциональные задачи программного продукта</vt:lpstr>
      <vt:lpstr>Описание предметной области </vt:lpstr>
      <vt:lpstr>Инструментальные средства разработки</vt:lpstr>
      <vt:lpstr>Проектирование программного продукта</vt:lpstr>
      <vt:lpstr>Проектирование программного продукта</vt:lpstr>
      <vt:lpstr>Проектирование программного продукта</vt:lpstr>
      <vt:lpstr>Проектирование базы данных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</cp:revision>
  <dcterms:created xsi:type="dcterms:W3CDTF">2026-03-22T03:56:00Z</dcterms:created>
  <dcterms:modified xsi:type="dcterms:W3CDTF">2026-04-06T18:42:08Z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